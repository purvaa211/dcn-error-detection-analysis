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 COMMUNICATION &amp;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Experimental Analysis of Error Detection</a:t>
            </a:r>
            <a:br/>
            <a:r>
              <a:t>Techniques in Data Communication</a:t>
            </a:r>
          </a:p>
          <a:p>
            <a:pPr>
              <a:spcBef>
                <a:spcPts val="1600"/>
              </a:spcBef>
              <a:defRPr sz="1800">
                <a:solidFill>
                  <a:srgbClr val="94A3B8"/>
                </a:solidFill>
              </a:defRPr>
            </a:pPr>
            <a:r>
              <a:t>Comparative Diagnostic &amp; Performance Evaluation of VRC, LRC, Internet Checksum, and CRC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Author / Presenter: Purva Deshmukh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Project Scope: End-to-End Simulation, Dual Interactive Interfaces (CLI &amp; Web), and Empirical Benchmarking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Techniques Analyzed: Vertical Redundancy Check (VRC) | Longitudinal Redundancy Check (LRC) | Internet Checksum | CRC-16 / CRC-32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1. 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Introduction: Transmission Impairments &amp;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Physical Channel Realities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</a:defRPr>
            </a:pPr>
            <a:r>
              <a:t>• Noise and Interference: Physical channels (copper, fiber, wireless) are prone to thermal noise, cross-talk, and impulse spikes.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</a:defRPr>
            </a:pPr>
            <a:r>
              <a:t>• Bit Corruption: Transmitted electrical signals distort, flipping binary 1s to 0s and vice versa.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</a:defRPr>
            </a:pPr>
            <a:r>
              <a:t>• Error Distribution Patterns: Real physical channels produce single-bit flips, random multi-bit noise, and contiguous burst errors.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</a:defRPr>
            </a:pPr>
            <a:r>
              <a:t>• Data Link Layer Obligation: Packets cannot be safely delivered to upper protocol layers without rigorous frame integrity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The Engineering Trade-Off Dilemma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</a:defRPr>
            </a:pPr>
            <a:r>
              <a:t>• Detection Power vs. Bandwidth: Adding redundancy bits increases channel overhead and reduces effective payload throughput.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</a:defRPr>
            </a:pPr>
            <a:r>
              <a:t>• Computational Complexity: Simple parity calculation runs in O(1) CPU time, whereas polynomial division incurs significant processing latency.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</a:defRPr>
            </a:pPr>
            <a:r>
              <a:t>• Algorithmic Blind Spots: Simple algorithms fail on specific multi-bit or burst patterns (e.g. even parity blind spots).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</a:defRPr>
            </a:pPr>
            <a:r>
              <a:t>• Project Goal: Rigorously evaluate and compare all four canonical error-detection mechanisms across identical payloads and channel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Objectives &amp; Engineering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End-to-End 3-Stage Pipeline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</a:defRPr>
            </a:pPr>
            <a:r>
              <a:t>Model realistic Sender (Transmitter Encoding), Physical Channel (Noise/Corruption), and Receiver (Integrity Verification) without external black-box libraries.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Four Canonical Techniques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</a:defRPr>
            </a:pPr>
            <a:r>
              <a:t>Implement native mathematical logic for VRC (Parity), LRC (2D block matrix), 1's Complement Internet Checksum, and CRC (Modulo-2 polynomial division).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Five Physical Error Models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</a:defRPr>
            </a:pPr>
            <a:r>
              <a:t>Support clean transmission, single-bit flips, independent multiple-bit flips, burst errors, and manual bit-index injection for targeted stress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Dual Interface &amp; Benchmarking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</a:defRPr>
            </a:pPr>
            <a:r>
              <a:t>Provide an interactive CLI and modern browser web interface backed by empirical batch experiments generating 4 publication-quality analytical graphs.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3. ARCHITECTURE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Architecture: 3-Tier Layered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Tier 1: Core Mathematical Algorithms</a:t>
            </a:r>
          </a:p>
          <a:p>
            <a:pPr>
              <a:spcBef>
                <a:spcPts val="1200"/>
              </a:spcBef>
              <a:defRPr sz="1250">
                <a:solidFill>
                  <a:srgbClr val="334155"/>
                </a:solidFill>
              </a:defRPr>
            </a:pPr>
            <a:r>
              <a:t>Location: algorithms/</a:t>
            </a:r>
            <a:br/>
            <a:r>
              <a:t>• parity.py: VRC (Even/Odd schemes)</a:t>
            </a:r>
            <a:br/>
            <a:r>
              <a:t>• lrc.py: Block matrix column-wise XOR</a:t>
            </a:r>
            <a:br/>
            <a:r>
              <a:t>• checksum.py: 1's complement addition with end-around carry</a:t>
            </a:r>
            <a:br/>
            <a:r>
              <a:t>• crc.py: Modulo-2 polynomial division (CRC-8, CRC-16, CRC-32)</a:t>
            </a:r>
            <a:br/>
            <a:r>
              <a:t>Zero third-party algorithm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Tier 2: Physical Channel &amp; Simulation</a:t>
            </a:r>
          </a:p>
          <a:p>
            <a:pPr>
              <a:spcBef>
                <a:spcPts val="1200"/>
              </a:spcBef>
              <a:defRPr sz="1250">
                <a:solidFill>
                  <a:srgbClr val="334155"/>
                </a:solidFill>
              </a:defRPr>
            </a:pPr>
            <a:r>
              <a:t>Location: simulation/ &amp; experiments/</a:t>
            </a:r>
            <a:br/>
            <a:r>
              <a:t>• error_generator.py: 5 physical noise injection models</a:t>
            </a:r>
            <a:br/>
            <a:r>
              <a:t>• simulator.py: End-to-end 3-stage pipeline coordinator</a:t>
            </a:r>
            <a:br/>
            <a:r>
              <a:t>• experiment_runner.py: Multi-threaded batch benchmarking</a:t>
            </a:r>
            <a:br/>
            <a:r>
              <a:t>• metrics.py: Data aggregation with clean/corrupted separation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Tier 3: Dual Presentation Layer</a:t>
            </a:r>
          </a:p>
          <a:p>
            <a:pPr>
              <a:spcBef>
                <a:spcPts val="1200"/>
              </a:spcBef>
              <a:defRPr sz="1250">
                <a:solidFill>
                  <a:srgbClr val="334155"/>
                </a:solidFill>
              </a:defRPr>
            </a:pPr>
            <a:r>
              <a:t>Location: main.py, web/, web_integration/</a:t>
            </a:r>
            <a:br/>
            <a:r>
              <a:t>• Terminal CLI: Interactive console with session data retention</a:t>
            </a:r>
            <a:br/>
            <a:r>
              <a:t>• Web Application: Modern Flask + HTML5/CSS3/JS UI</a:t>
            </a:r>
            <a:br/>
            <a:r>
              <a:t>• web_integration: Adapter layer preserving original backend code intact</a:t>
            </a:r>
            <a:br/>
            <a:r>
              <a:t>• Staging Manager: Prevents unexpected file overwrite.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4.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Methodology: End-to-End Transmission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Stage 1: Transmitter (Sender)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Input Payload: Binary bit sequence (e.g. 10110011)</a:t>
            </a:r>
            <a:br/>
            <a:r>
              <a:t>1. Encode payload using selected technique.</a:t>
            </a:r>
            <a:br/>
            <a:r>
              <a:t>2. Compute redundancy / check bits (r bits).</a:t>
            </a:r>
            <a:br/>
            <a:r>
              <a:t>3. Append check bits to generate Protected Frame (n = k + r bits).</a:t>
            </a:r>
            <a:br/>
            <a:r>
              <a:t>4. Record encoding latency (T_enc).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Stage 2: Physical Channel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Channel Noise Simulation:</a:t>
            </a:r>
            <a:br/>
            <a:r>
              <a:t>1. Apply selected error model (Single, Multiple, Burst, Manual).</a:t>
            </a:r>
            <a:br/>
            <a:r>
              <a:t>2. Flip binary bits at designated channel indices (0 -&gt; 1, 1 -&gt; 0).</a:t>
            </a:r>
            <a:br/>
            <a:r>
              <a:t>3. Produce Received / Corrupted Frame.</a:t>
            </a:r>
            <a:br/>
            <a:r>
              <a:t>4. Track exact corrupted bit indices.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Stage 3: Receiver Verification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Integrity Verification:</a:t>
            </a:r>
            <a:br/>
            <a:r>
              <a:t>1. Extract payload and redundant check bits.</a:t>
            </a:r>
            <a:br/>
            <a:r>
              <a:t>2. Recompute check sequence on received payload.</a:t>
            </a:r>
            <a:br/>
            <a:r>
              <a:t>3. Compare received vs expected check sequence.</a:t>
            </a:r>
            <a:br/>
            <a:r>
              <a:t>4. Emit binary verdict: ERROR DETECTED vs ERROR MISSED.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5. ERROR GENERATION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Physical Error Models Implemented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Clean Transmission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No bits altered (Channel Noise = 0). Validates that legitimate clean frames pass verification without false alarms.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Single-Bit Error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Exactly one bit flipped at a random or specified index. Corresponds to isolated white noise or thermal fluctuation in copper wires.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Multiple-Bit Errors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m independent bit flips scattered across payload. Crucial for exposing the fundamental limitations of single parity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461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Burst Error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A contiguous sequence of bits of length B, where the first and last bits are guaranteed flipped, and intermediate bits flip with probability p=0.5.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5. Manual Error Injection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User or tester provides exact comma-separated bit indices to flip. Enables reproducible scenario testing (e.g. flipping identical columns in LRC).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6. ALGORITHMIC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Mathematical Principles of the 4 Detection Techniques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Vertical Redundancy Check (VRC)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Mechanism: Appends 1 parity bit to ensure even number of 1s in the frame.</a:t>
            </a:r>
            <a:br/>
            <a:r>
              <a:t>• Mathematics: P = b_0 ⊕ b_1 ⊕ ... ⊕ b_{k-1}</a:t>
            </a:r>
            <a:br/>
            <a:r>
              <a:t>• Detection: Catches 100% of odd-count bit errors.</a:t>
            </a:r>
            <a:br/>
            <a:r>
              <a:t>• Limitation: 0% detection on even errors (d_min = 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Longitudinal Redundancy Check (LRC)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Mechanism: Organizes payload into 2D matrix of 8-bit blocks; calculates column-wise parity.</a:t>
            </a:r>
            <a:br/>
            <a:r>
              <a:t>• Mathematics: LRC_j = ⊕_{i=1}^m Block_{i,j}</a:t>
            </a:r>
            <a:br/>
            <a:r>
              <a:t>• Detection: Catches burst errors across blocks.</a:t>
            </a:r>
            <a:br/>
            <a:r>
              <a:t>• Limitation: Misses 2-bit flips in the identical column.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Internet Checksum (RFC 1071)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Mechanism: Divides payload into 8-bit/16-bit words; sums using 1's complement arithmetic.</a:t>
            </a:r>
            <a:br/>
            <a:r>
              <a:t>• Mathematics: Checksum = ~(Sum + End-around Carries)</a:t>
            </a:r>
            <a:br/>
            <a:r>
              <a:t>• Detection: Receiver sum of payload + checksum must equal all 1s (0xFF).</a:t>
            </a:r>
            <a:br/>
            <a:r>
              <a:t>• Feature: Low CPU overhead, used in TCP/IP/UDP.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Cyclic Redundancy Check (CRC)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Mechanism: Modulo-2 binary polynomial division using XOR arithmetic.</a:t>
            </a:r>
            <a:br/>
            <a:r>
              <a:t>• Mathematics: T(x) = D(x) · x^r + R(x), where R(x) = (D(x) · x^r) mod G(x)</a:t>
            </a:r>
            <a:br/>
            <a:r>
              <a:t>• Polynomials: CRC-8 (100000111), CRC-16 (IBM/CCITT), CRC-32 (IEEE 802.3).</a:t>
            </a:r>
            <a:br/>
            <a:r>
              <a:t>• Detection: Mathematically guarantees detection of all burst errors ≤ r bits.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7.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Implementation: Terminal CLI &amp; Web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Interactive Terminal CLI (main.py)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• 1. Simulate Data Transmission: Interactive parameter selection with Sender -&gt; Channel -&gt; Receiver breakdown.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• 2. Compare Error Detection Techniques: Runs VRC, LRC, Checksum, and CRC under synchronized payload error positions.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• 3. View Algorithm Working: Full step-by-step mathematical trace generation (matrix grids, XOR steps).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• 4. Run Experiments and View Graphs: Benchmark generator with temporary staging &amp; confirmation workflow.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• 5. Session Persistence: Data entered once is reused across all menus without repeated prompting.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Browser Web Application (web/ + web_integration/)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• Zero Backend Modification: Invokes native Python backend directly via typed adapter layer.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• Visual Bit Highlighting: Corrupted bits are highlighted in red inline for intuitive visual comparison.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• Tabbed Navigation: Four dedicated modules matching the terminal operations.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• Staging Protection: Staged runs allow user to preview newly generated graphs before applying to project baseline.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• One-Click Launcher: start_website.bat auto-binds to 0.0.0.0 and launches browser to http://127.0.0.1:5000.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8. 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Analytical Graph 1: Detection Rate by Error Type</a:t>
            </a:r>
          </a:p>
        </p:txBody>
      </p:sp>
      <p:pic>
        <p:nvPicPr>
          <p:cNvPr id="4" name="Picture 3" descr="detection_rate_by_error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464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Empirical Insights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Single-Bit Errors: All 4 techniques achieve 100% detection rate. Single-bit errors are completely caught by any standard parity bit or checksum.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Multiple-Bit Errors: VRC detection rate drops drastically (~50%) because any even number of corrupted bits preserves the original parity bit.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Burst Errors: CRC and LRC demonstrate superior resilience, catching 100% of burst spans within their design parameters.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Checksum Behavior: Catches &gt;90% of random multiple-bit errors, but misses compensating errors where carry bits cancel 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9. 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Analytical Graph 2: Detection Rate vs. Error Magnitude</a:t>
            </a:r>
          </a:p>
        </p:txBody>
      </p:sp>
      <p:pic>
        <p:nvPicPr>
          <p:cNvPr id="4" name="Picture 3" descr="detection_rate_vs_error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33487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The Parity Paradox Demonstrated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Oscillating Parity Curve: Graph clearly proves the textbook parity limitation:</a:t>
            </a:r>
            <a:br/>
            <a:r>
              <a:t>- Odd bit errors (1, 3, 5): 100% Detection</a:t>
            </a:r>
            <a:br/>
            <a:r>
              <a:t>- Even bit errors (2, 4, 8): Exactly 0% Detection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LRC 2D Robustness: Because bits are distributed across 8 columns, LRC detects even errors provided they do not occur in the exact same column.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CRC Immunity: CRC maintains a flat 100% line across almost all error magnitudes for standard payloads.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Engineering Significance: Proves why simple parity is unsuitable for noisy physical media without higher-order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10. 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Analytical Graph 3: Processing Latency vs. Data Size</a:t>
            </a:r>
          </a:p>
        </p:txBody>
      </p:sp>
      <p:pic>
        <p:nvPicPr>
          <p:cNvPr id="4" name="Picture 3" descr="processing_time_vs_data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33487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Computational Complexity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Linear Growth: All four techniques scale linearly O(N) with payload size, but with substantially different slope coefficients.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VRC Latency: Minimal CPU time (single bitwise count/accumulation), making it ideal for low-power microcontroller links.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Internet Checksum: Highly optimized in software due to native 8/16-bit integer ALU register additions.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CRC Latency: Higher computational overhead due to modulo-2 polynomial division steps; modern NICs offload CRC to dedicated hardware silicon.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11. 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Analytical Graph 4: Transmission Overhead vs. Data Size</a:t>
            </a:r>
          </a:p>
        </p:txBody>
      </p:sp>
      <p:pic>
        <p:nvPicPr>
          <p:cNvPr id="4" name="Picture 3" descr="overhead_vs_data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33487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Bandwidth Utilization Penalty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Diminishing Overhead Ratio: Fixed-width check codes (VRC: 1 bit, CRC-16: 16 bits, Checksum: 8 bits) decrease in percentage overhead as payload grows.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Short Frame Penalty: At 32-bit payload, CRC-16 incurs a 50% bandwidth penalty; at 512 bits, overhead drops to just 3.125%.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LRC Block-Scaling: LRC requires an 8-bit check block, maintaining moderate overhead across varying data sizes.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Protocol Design Rule: For tiny payloads (e.g. sensor telemetry), lightweight checksums or VRC save channel airtime; for MTU-sized packets (1500 bytes), CRC overhead is negligible (&lt;0.2%).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12. COMPARATIVE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Comparative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Redundancy (Bits)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CPU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Single-Bit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Even-Bit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Burst Errors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Primary Real-World Use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VRC / Parity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 bit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Minimal (O(1))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0% (Fails)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Async Serial, ASCII, RAM parity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 bits (block)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Low (O(N))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Good*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Magnetic tape, ISO 7816 Smart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Checksum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 / 16 bits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Low (O(N))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High (~90%)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TCP, UDP, IP headers (Transport Layer)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CRC-16 / 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16 / 32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Moderate (Div)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Guaranteed*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Ethernet, Wi-Fi 802.11, HDLC, SATA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Conclusion &amp; Engineering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Key Takeaways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1. No Universal Solution: Error detection selection is an explicit engineering trade-off between channel error characteristics, bandwidth penalty, and computational latency.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2. CRC Dominance at Data Link: CRC-16 and CRC-32 remain the undisputed standard for physical and data link layers due to mathematical guarantees against burst and multi-bit errors.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3. Software Checksum Dominance at Transport: Internet Checksum remains optimal for host software TCP/IP stacks because 1's complement summation executes in ALU integer units without division overhead.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4. Modular Dual-Interface Success: The architecture cleanly decouples the mathematical backend from both the CLI and modern Flask web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Future Scope &amp; Extensions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Error Correction Integration: Extend the simulation pipeline from detection-only to forward error correction (FEC) using Hamming Codes (7,4) and Reed-Solomon.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Hardware Emulation: Implement lookup table (LUT) accelerated CRC algorithms to compare software bit-by-bit vs table-driven division speedups.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Real-World Noise Modeling: Integrate statistical Gilbert-Elliott burst channel Markov models to simulate realistic fading wireless links.</a:t>
            </a:r>
          </a:p>
          <a:p>
            <a:pPr>
              <a:spcBef>
                <a:spcPts val="1000"/>
              </a:spcBef>
              <a:defRPr sz="1250">
                <a:solidFill>
                  <a:srgbClr val="334155"/>
                </a:solidFill>
              </a:defRPr>
            </a:pPr>
            <a:r>
              <a:t>• Automated ARQ Simulation: Implement Automatic Repeat reQuest (Stop-and-Wait, Go-Back-N, Selective Repeat) over detected frame corruptions.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2200">
                <a:solidFill>
                  <a:srgbClr val="2563EB"/>
                </a:solidFill>
              </a:defRPr>
            </a:pPr>
            <a:r>
              <a:t>Questions &amp; Jury Discussion</a:t>
            </a:r>
          </a:p>
          <a:p>
            <a:pPr algn="ctr"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GitHub Repository: https://github.com/purvaa211/dcn-error-detection-analysis</a:t>
            </a:r>
            <a:br/>
            <a:r>
              <a:t>Project: DCN Error Generation, Detection &amp; Comparative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